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47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Multi-Agent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017520"/>
            <a:ext cx="4114800" cy="36576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John's Challenge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 and ticket history are locked in a SQL database with no natural language access.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5176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517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Docs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PDFs are hard to search - John has to manually read through documents to answer customer questions.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65176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6517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between systems wastes time, leading to delays and inconsistent support quality.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 Interface for Everything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John Can Now Ask: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657600" cy="512064"/>
          </a:xfrm>
          <a:prstGeom prst="rect">
            <a:avLst/>
          </a:prstGeom>
          <a:solidFill>
            <a:srgbClr val="D6EEF0"/>
          </a:solidFill>
          <a:ln w="12700">
            <a:solidFill>
              <a:srgbClr val="B8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current refund policy?"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3657600" cy="512064"/>
          </a:xfrm>
          <a:prstGeom prst="rect">
            <a:avLst/>
          </a:prstGeom>
          <a:solidFill>
            <a:srgbClr val="D6EEF0"/>
          </a:solidFill>
          <a:ln w="12700">
            <a:solidFill>
              <a:srgbClr val="B8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76148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an overview of Ema's profile and tickets."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3657600" cy="512064"/>
          </a:xfrm>
          <a:prstGeom prst="rect">
            <a:avLst/>
          </a:prstGeom>
          <a:solidFill>
            <a:srgbClr val="D6EEF0"/>
          </a:solidFill>
          <a:ln w="12700">
            <a:solidFill>
              <a:srgbClr val="B8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41985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are our Enterprise customers?"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3657600" cy="512064"/>
          </a:xfrm>
          <a:prstGeom prst="rect">
            <a:avLst/>
          </a:prstGeom>
          <a:solidFill>
            <a:srgbClr val="D6EEF0"/>
          </a:solidFill>
          <a:ln w="12700">
            <a:solidFill>
              <a:srgbClr val="B8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07822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long does a return window last?"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40690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1031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21031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querying of SQL customer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76148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7614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policy document upload and search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34198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routing to the right AI agent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40782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407822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Context-aware, human-friendly responses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594360"/>
            <a:ext cx="2743200" cy="685800"/>
          </a:xfrm>
          <a:prstGeom prst="rect">
            <a:avLst/>
          </a:prstGeom>
          <a:solidFill>
            <a:srgbClr val="065A82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73552" y="640080"/>
            <a:ext cx="25968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73552" y="971550"/>
            <a:ext cx="25968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PDF Upload Sidebar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07992" y="1490472"/>
            <a:ext cx="64008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600200"/>
            <a:ext cx="4023360" cy="685800"/>
          </a:xfrm>
          <a:prstGeom prst="rect">
            <a:avLst/>
          </a:prstGeom>
          <a:solidFill>
            <a:srgbClr val="007A6E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33472" y="1645920"/>
            <a:ext cx="38770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Supervisor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33472" y="1977390"/>
            <a:ext cx="387705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Classifies: sql / rag / general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1938528"/>
            <a:ext cx="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1938528"/>
            <a:ext cx="1371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600200"/>
            <a:ext cx="1828800" cy="685800"/>
          </a:xfrm>
          <a:prstGeom prst="rect">
            <a:avLst/>
          </a:prstGeom>
          <a:solidFill>
            <a:srgbClr val="1C4E7A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1645920"/>
            <a:ext cx="16824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1977390"/>
            <a:ext cx="16824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Gemini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1600200"/>
            <a:ext cx="1828800" cy="685800"/>
          </a:xfrm>
          <a:prstGeom prst="rect">
            <a:avLst/>
          </a:prstGeom>
          <a:solidFill>
            <a:srgbClr val="1C4E7A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68312" y="1645920"/>
            <a:ext cx="16824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68312" y="1977390"/>
            <a:ext cx="16824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Gemini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34440" y="2286000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70432" y="2496312"/>
            <a:ext cx="64008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09560" y="2286000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45552" y="2496312"/>
            <a:ext cx="64008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2606040"/>
            <a:ext cx="1828800" cy="685800"/>
          </a:xfrm>
          <a:prstGeom prst="rect">
            <a:avLst/>
          </a:prstGeom>
          <a:solidFill>
            <a:srgbClr val="183A5A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" y="2651760"/>
            <a:ext cx="16824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" y="2983230"/>
            <a:ext cx="16824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95160" y="2606040"/>
            <a:ext cx="1828800" cy="685800"/>
          </a:xfrm>
          <a:prstGeom prst="rect">
            <a:avLst/>
          </a:prstGeom>
          <a:solidFill>
            <a:srgbClr val="183A5A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68312" y="2651760"/>
            <a:ext cx="16824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68312" y="2983230"/>
            <a:ext cx="16824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Tools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234440" y="3291840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70432" y="3502152"/>
            <a:ext cx="64008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V="1">
            <a:off x="1234440" y="3502152"/>
            <a:ext cx="63994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909560" y="3291840"/>
            <a:ext cx="0" cy="32004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845552" y="3502152"/>
            <a:ext cx="64008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" y="3611880"/>
            <a:ext cx="1828800" cy="685800"/>
          </a:xfrm>
          <a:prstGeom prst="rect">
            <a:avLst/>
          </a:prstGeom>
          <a:solidFill>
            <a:srgbClr val="0F2A4A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3192" y="3657600"/>
            <a:ext cx="16824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3192" y="3989070"/>
            <a:ext cx="16824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+ Tickets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95160" y="3611880"/>
            <a:ext cx="1828800" cy="685800"/>
          </a:xfrm>
          <a:prstGeom prst="rect">
            <a:avLst/>
          </a:prstGeom>
          <a:solidFill>
            <a:srgbClr val="0F2A4A"/>
          </a:solidFill>
          <a:ln w="1905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68312" y="3657600"/>
            <a:ext cx="16824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68312" y="3989070"/>
            <a:ext cx="168249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Embeddings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A8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sentence-transformers/all-MiniLM-L6-v2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26080" y="3611880"/>
            <a:ext cx="3291840" cy="685800"/>
          </a:xfrm>
          <a:prstGeom prst="rect">
            <a:avLst/>
          </a:prstGeom>
          <a:solidFill>
            <a:srgbClr val="132E52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2608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Google Gemini 2.5 Flash Lite</a:t>
            </a:r>
            <a:endParaRPr lang="en-US" sz="1100" dirty="0"/>
          </a:p>
        </p:txBody>
      </p:sp>
      <p:sp>
        <p:nvSpPr>
          <p:cNvPr id="49" name="Shape 33">
            <a:extLst>
              <a:ext uri="{FF2B5EF4-FFF2-40B4-BE49-F238E27FC236}">
                <a16:creationId xmlns:a16="http://schemas.microsoft.com/office/drawing/2014/main" id="{1E6E3A54-D56A-79F3-3B48-2881A8537712}"/>
              </a:ext>
            </a:extLst>
          </p:cNvPr>
          <p:cNvSpPr/>
          <p:nvPr/>
        </p:nvSpPr>
        <p:spPr>
          <a:xfrm flipV="1">
            <a:off x="1234440" y="2494026"/>
            <a:ext cx="63994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3">
            <a:extLst>
              <a:ext uri="{FF2B5EF4-FFF2-40B4-BE49-F238E27FC236}">
                <a16:creationId xmlns:a16="http://schemas.microsoft.com/office/drawing/2014/main" id="{37FEFDFD-F846-817F-4572-3BCD28BE16B3}"/>
              </a:ext>
            </a:extLst>
          </p:cNvPr>
          <p:cNvSpPr/>
          <p:nvPr/>
        </p:nvSpPr>
        <p:spPr>
          <a:xfrm flipV="1">
            <a:off x="7909567" y="2502181"/>
            <a:ext cx="63994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33">
            <a:extLst>
              <a:ext uri="{FF2B5EF4-FFF2-40B4-BE49-F238E27FC236}">
                <a16:creationId xmlns:a16="http://schemas.microsoft.com/office/drawing/2014/main" id="{695CA0C9-0C49-34D1-79C2-363BF34E69A3}"/>
              </a:ext>
            </a:extLst>
          </p:cNvPr>
          <p:cNvSpPr/>
          <p:nvPr/>
        </p:nvSpPr>
        <p:spPr>
          <a:xfrm flipV="1">
            <a:off x="7909559" y="3499866"/>
            <a:ext cx="63994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33">
            <a:extLst>
              <a:ext uri="{FF2B5EF4-FFF2-40B4-BE49-F238E27FC236}">
                <a16:creationId xmlns:a16="http://schemas.microsoft.com/office/drawing/2014/main" id="{9449B989-1503-5643-690C-A8BA21970493}"/>
              </a:ext>
            </a:extLst>
          </p:cNvPr>
          <p:cNvSpPr/>
          <p:nvPr/>
        </p:nvSpPr>
        <p:spPr>
          <a:xfrm flipV="1">
            <a:off x="4574876" y="1487998"/>
            <a:ext cx="63994" cy="109728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DA00846D-90DE-C414-F34F-60657FBD7765}"/>
              </a:ext>
            </a:extLst>
          </p:cNvPr>
          <p:cNvSpPr/>
          <p:nvPr/>
        </p:nvSpPr>
        <p:spPr>
          <a:xfrm>
            <a:off x="2148840" y="1938528"/>
            <a:ext cx="4114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Right Tools for the Job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Lite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free-tier capable, excellent reasoning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444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73752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runs locally, no API cost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322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graph-based multi-agent control 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9424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249424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322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73752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prompt management, agent executors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127248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" y="3419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3630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tool server decoupling UI from agents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1272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127248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3752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3419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73752" y="3630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Zero-config, file-based, perfect for structured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00507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4005072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0352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store for semantic PDF search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0507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4005072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73752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73752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73752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chat UI with file upload sidebar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See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81912"/>
            <a:ext cx="47548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58191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1671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company policy PDF live and watch it get ingested into the vector knowledge base.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1581912"/>
            <a:ext cx="47548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04688" y="158191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Query (RAG Agent)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9472" y="21671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"What is the refund policy?" - the RAG agent retrieves and summarizes the answer from the PDF.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47548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31927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Query (SQL Agent)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" y="3904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"Give me an overview of Ema's profile and tickets" - the SQL agent queries the database and responds.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3319272"/>
            <a:ext cx="475488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04688" y="331927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SQL Queries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9472" y="3904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"Show me all open tickets" and "Who are our Enterprise customers?" to demonstrate flexibility.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4114800" cy="36576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2560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github.com/Nusaibah-Rawnak/customer-support-ai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LangGraph · FastMCP · ChromaDB · SQLite · Streamlit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437</Words>
  <Application>Microsoft Macintosh PowerPoint</Application>
  <PresentationFormat>On-screen Show (16:9)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AI - Multi-Agent System</dc:title>
  <dc:subject>PptxGenJS Presentation</dc:subject>
  <dc:creator>PptxGenJS</dc:creator>
  <cp:lastModifiedBy>Nusaibah Rawnak</cp:lastModifiedBy>
  <cp:revision>2</cp:revision>
  <dcterms:created xsi:type="dcterms:W3CDTF">2026-04-21T18:09:17Z</dcterms:created>
  <dcterms:modified xsi:type="dcterms:W3CDTF">2026-04-21T18:30:24Z</dcterms:modified>
</cp:coreProperties>
</file>